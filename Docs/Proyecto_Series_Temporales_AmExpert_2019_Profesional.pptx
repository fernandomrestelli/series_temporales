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468364e2dc4c5d" /><Relationship Type="http://schemas.openxmlformats.org/officeDocument/2006/relationships/extended-properties" Target="/docProps/app.xml" Id="Rdfb4a520258e4f78" /><Relationship Type="http://schemas.openxmlformats.org/officeDocument/2006/relationships/officeDocument" Target="/ppt/presentation.xml" Id="Ra8f23fa6fd4f46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1750c245ef41d3"/>
  </p:sldMasterIdLst>
  <p:notesMasterIdLst>
    <p:notesMasterId xmlns:r="http://schemas.openxmlformats.org/officeDocument/2006/relationships" r:id="Rb1a3be0fb8de49b1"/>
  </p:notesMasterIdLst>
  <p:sldIdLst>
    <p:sldId xmlns:r="http://schemas.openxmlformats.org/officeDocument/2006/relationships" id="256" r:id="R99b7bfec2942449d"/>
    <p:sldId xmlns:r="http://schemas.openxmlformats.org/officeDocument/2006/relationships" id="257" r:id="R702e9a6074ea4f80"/>
    <p:sldId xmlns:r="http://schemas.openxmlformats.org/officeDocument/2006/relationships" id="258" r:id="R8ed6de18d86749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c4dbed924145c4" /><Relationship Type="http://schemas.openxmlformats.org/officeDocument/2006/relationships/slideMaster" Target="/ppt/slideMasters/slideMaster1.xml" Id="R5b1750c245ef41d3" /><Relationship Type="http://schemas.openxmlformats.org/officeDocument/2006/relationships/notesMaster" Target="/ppt/notesMasters/notesMaster1.xml" Id="Rb1a3be0fb8de49b1" /><Relationship Type="http://schemas.openxmlformats.org/officeDocument/2006/relationships/presProps" Target="/ppt/presProps.xml" Id="Rfcf66fec2632487f" /><Relationship Type="http://schemas.openxmlformats.org/officeDocument/2006/relationships/tableStyles" Target="/ppt/tableStyles.xml" Id="Rcaca0abe390a4a58" /><Relationship Type="http://schemas.openxmlformats.org/officeDocument/2006/relationships/slide" Target="/ppt/slides/slide1.xml" Id="R99b7bfec2942449d" /><Relationship Type="http://schemas.openxmlformats.org/officeDocument/2006/relationships/slide" Target="/ppt/slides/slide2.xml" Id="R702e9a6074ea4f80" /><Relationship Type="http://schemas.openxmlformats.org/officeDocument/2006/relationships/slide" Target="/ppt/slides/slide3.xml" Id="R8ed6de18d86749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376f4e5e6546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cd58b4258745a4" /><Relationship Type="http://schemas.openxmlformats.org/officeDocument/2006/relationships/notesMaster" Target="/ppt/notesMasters/notesMaster1.xml" Id="R7e2c6114813340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81119780b148da" /><Relationship Type="http://schemas.openxmlformats.org/officeDocument/2006/relationships/notesMaster" Target="/ppt/notesMasters/notesMaster1.xml" Id="R81146ad074554c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6505bc69074c6a" /><Relationship Type="http://schemas.openxmlformats.org/officeDocument/2006/relationships/notesMaster" Target="/ppt/notesMasters/notesMaster1.xml" Id="R437a700824ca41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1baa39de240d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1a0950400484d" /></Relationships>
</file>

<file path=ppt/slideLayouts/slideLayout1.xml><?xml version="1.0" encoding="utf-8"?>
<p:sldLayout xmlns:p="http://schemas.openxmlformats.org/presentationml/2006/main" type="blank" preserve="1">
  <p:cSld name="DEFAULT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 preserve="1">
  <p:cSld name="MASTER"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ABA52D8-C803-4BC4-AD18-07C6A147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12700">
            <a:solidFill>
              <a:srgbClr val="F7F3EA">
                <a:alpha val="0"/>
              </a:srgbClr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C6C932E-6328-4B07-B02B-3B51201AD831}"/>
              </a:ext>
            </a:extLst>
          </p:cNvPr>
          <p:cNvSpPr>
            <a:spLocks xmlns:a="http://schemas.openxmlformats.org/drawingml/2006/main" noGrp="1"/>
          </p:cNvSpPr>
          <p:nvPr>
            <p:ph type="sldNum" idx="1"/>
          </p:nvPr>
        </p:nvSpPr>
        <p:spPr>
          <a:xfrm xmlns:a="http://schemas.openxmlformats.org/drawingml/2006/main">
            <a:off x="11338560" y="6446520"/>
            <a:ext cx="799560" cy="29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rgbClr val="81919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</a:pPr>
            <a:fld id="{73793D46-7208-4948-9CBF-C06FBC892926}" type="slidenum">
              <a:rPr sz="1200" b="0" u="none">
                <a:solidFill>
                  <a:srgbClr val="81919A"/>
                </a:solidFill>
                <a:latin typeface="Aptos"/>
                <a:ea typeface="Aptos"/>
                <a:cs typeface="Aptos"/>
              </a:rPr>
              <a:t>&lt;number&gt;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43CA0B9-510D-44AC-8BF7-9216E0FC78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08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lvl1pPr indent="0" algn="l">
              <a:buNone/>
              <a:defRPr sz="18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  <a:endParaRPr sz="18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78AD0DF-60AA-474E-8E16-A0DB86A7627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08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32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4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</a:lstStyle>
          <a:p xmlns:a="http://schemas.openxmlformats.org/drawingml/2006/main"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  <a:endParaRPr sz="32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  <a:endParaRPr sz="24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  <a:endParaRPr sz="20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  <a:endParaRPr sz="20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  <a:endParaRPr sz="20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  <a:endParaRPr sz="20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  <a:endParaRPr sz="2000" b="0" u="non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f75037fd5e42b8" /><Relationship Type="http://schemas.openxmlformats.org/officeDocument/2006/relationships/slideLayout" Target="/ppt/slideLayouts/slideLayout1.xml" Id="Rf5a7369b35424147" /><Relationship Type="http://schemas.openxmlformats.org/officeDocument/2006/relationships/slideLayout" Target="/ppt/slideLayouts/slideLayout2.xml" Id="Rbca0941541a24e4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a7369b35424147"/>
    <p:sldLayoutId xmlns:r="http://schemas.openxmlformats.org/officeDocument/2006/relationships" id="2147483650" r:id="Rbca0941541a24e43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df1d4be7aa4df7" /><Relationship Type="http://schemas.openxmlformats.org/officeDocument/2006/relationships/image" Target="/ppt/media/image.png" Id="R6f3e31f81fb4408b" /><Relationship Type="http://schemas.openxmlformats.org/officeDocument/2006/relationships/notesSlide" Target="/ppt/notesSlides/notesSlide1.xml" Id="R7be3e5af50ab48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336727e2b849cc" /><Relationship Type="http://schemas.openxmlformats.org/officeDocument/2006/relationships/notesSlide" Target="/ppt/notesSlides/notesSlide2.xml" Id="R5be6ac679a4242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9f39f5509c4baf" /><Relationship Type="http://schemas.openxmlformats.org/officeDocument/2006/relationships/notesSlide" Target="/ppt/notesSlides/notesSlide3.xml" Id="R9a8aeda0cbdb4d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0">
            <a:extLst xmlns:a="http://schemas.openxmlformats.org/drawingml/2006/main">
              <a:ext uri="{FF2B5EF4-FFF2-40B4-BE49-F238E27FC236}">
                <a16:creationId xmlns:a16="http://schemas.microsoft.com/office/drawing/2014/main" id="{3885B3A5-5FE7-49D8-84FC-72094BDA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400" cy="6857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6C6A"/>
          </a:solidFill>
          <a:ln xmlns:a="http://schemas.openxmlformats.org/drawingml/2006/main" w="12700">
            <a:solidFill>
              <a:srgbClr val="0B6B67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hape 1">
            <a:extLst xmlns:a="http://schemas.openxmlformats.org/drawingml/2006/main">
              <a:ext uri="{FF2B5EF4-FFF2-40B4-BE49-F238E27FC236}">
                <a16:creationId xmlns:a16="http://schemas.microsoft.com/office/drawing/2014/main" id="{ECA74B98-5A6E-4418-9B0E-4F3FE36E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4876229" cy="68576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1"/>
          </a:solidFill>
          <a:ln xmlns:a="http://schemas.openxmlformats.org/drawingml/2006/main" w="12700">
            <a:solidFill>
              <a:srgbClr val="F7EBC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2">
            <a:extLst xmlns:a="http://schemas.openxmlformats.org/drawingml/2006/main">
              <a:ext uri="{FF2B5EF4-FFF2-40B4-BE49-F238E27FC236}">
                <a16:creationId xmlns:a16="http://schemas.microsoft.com/office/drawing/2014/main" id="{5084AA13-E5B2-40FA-A0E7-7BA6A72E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Series temporales</a:t>
            </a:r>
            <a:endParaRPr sz="3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en retail</a:t>
            </a:r>
            <a:endParaRPr sz="3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 3">
            <a:extLst xmlns:a="http://schemas.openxmlformats.org/drawingml/2006/main">
              <a:ext uri="{FF2B5EF4-FFF2-40B4-BE49-F238E27FC236}">
                <a16:creationId xmlns:a16="http://schemas.microsoft.com/office/drawing/2014/main" id="{D8767D5D-357F-4BE9-847D-27CD6C21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2250" b="0">
                <a:solidFill>
                  <a:srgbClr val="E0EFEC"/>
                </a:solidFill>
                <a:latin typeface="Arial"/>
                <a:ea typeface="Arial"/>
                <a:cs typeface="Arial"/>
              </a:defRPr>
            </a:pPr>
            <a:r>
              <a:rPr sz="2250" b="0" u="none">
                <a:solidFill>
                  <a:srgbClr val="E0EFEC"/>
                </a:solidFill>
                <a:latin typeface="Arial"/>
                <a:ea typeface="Arial"/>
                <a:cs typeface="Arial"/>
              </a:rPr>
              <a:t>Demanda y promociones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hape 4">
            <a:extLst xmlns:a="http://schemas.openxmlformats.org/drawingml/2006/main">
              <a:ext uri="{FF2B5EF4-FFF2-40B4-BE49-F238E27FC236}">
                <a16:creationId xmlns:a16="http://schemas.microsoft.com/office/drawing/2014/main" id="{07AAD36D-747B-4224-86AC-48FA649E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880" y="3246120"/>
            <a:ext cx="4114800" cy="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5">
            <a:extLst xmlns:a="http://schemas.openxmlformats.org/drawingml/2006/main">
              <a:ext uri="{FF2B5EF4-FFF2-40B4-BE49-F238E27FC236}">
                <a16:creationId xmlns:a16="http://schemas.microsoft.com/office/drawing/2014/main" id="{53628CB2-C52D-453D-BD1A-1DCD78C0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De las ventas diarias agregadas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 u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a la demanda por producto</a:t>
            </a:r>
            <a:endParaRPr sz="1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Shape 6">
            <a:extLst xmlns:a="http://schemas.openxmlformats.org/drawingml/2006/main">
              <a:ext uri="{FF2B5EF4-FFF2-40B4-BE49-F238E27FC236}">
                <a16:creationId xmlns:a16="http://schemas.microsoft.com/office/drawing/2014/main" id="{F26E9180-6320-42B8-93F7-0292372C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400" y="1097640"/>
            <a:ext cx="3337200" cy="438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65AA8CB-63E6-4EFF-B117-DFC6341C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520" y="3959280"/>
            <a:ext cx="2834640" cy="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DB53C6B-34B6-4617-B4AA-B55404C0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1647825"/>
            <a:ext cx="4019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2250" b="1">
                <a:solidFill>
                  <a:srgbClr val="086C6A"/>
                </a:solidFill>
                <a:latin typeface="Arial"/>
                <a:ea typeface="Arial"/>
                <a:cs typeface="Arial"/>
              </a:defRPr>
            </a:pPr>
            <a:r>
              <a:rPr sz="2250" b="1" u="none">
                <a:solidFill>
                  <a:srgbClr val="086C6A"/>
                </a:solidFill>
                <a:latin typeface="Arial"/>
                <a:ea typeface="Arial"/>
                <a:cs typeface="Arial"/>
              </a:rPr>
              <a:t>AmExpert 2019</a:t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A225CC2-58A3-46CA-B320-36A62841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000625"/>
            <a:ext cx="4019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5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575" b="0" u="none">
                <a:solidFill>
                  <a:srgbClr val="50616B"/>
                </a:solidFill>
                <a:latin typeface="Arial"/>
                <a:ea typeface="Arial"/>
                <a:cs typeface="Arial"/>
              </a:rPr>
              <a:t>Ventas diarias agregadas (daily_sales)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5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575" b="0" u="none">
                <a:solidFill>
                  <a:srgbClr val="50616B"/>
                </a:solidFill>
                <a:latin typeface="Arial"/>
                <a:ea typeface="Arial"/>
                <a:cs typeface="Arial"/>
              </a:rPr>
              <a:t>Señal temporal inicial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00714F6-B5CB-4AE7-B4C0-D6878E13F6B3}"/>
              </a:ext>
            </a:extLst>
          </p:cNvPr>
          <p:cNvSpPr>
            <a:spLocks xmlns:a="http://schemas.openxmlformats.org/drawingml/2006/main" noGrp="1"/>
          </p:cNvSpPr>
          <p:nvPr>
            <p:ph type="sldNum" idx="5"/>
          </p:nvPr>
        </p:nvSpPr>
        <p:spPr>
          <a:xfrm xmlns:a="http://schemas.openxmlformats.org/drawingml/2006/main">
            <a:off x="11338560" y="6446520"/>
            <a:ext cx="799560" cy="299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rgbClr val="81919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 defTabSz="914400">
              <a:lnSpc>
                <a:spcPct val="100000"/>
              </a:lnSpc>
              <a:buNone/>
            </a:pPr>
            <a:fld id="{69ADA83D-DF77-AA76-6DA0-7A70CD7A4D20}" type="slidenum">
              <a:rPr sz="1200" b="0" u="none">
                <a:solidFill>
                  <a:srgbClr val="81919A"/>
                </a:solidFill>
                <a:latin typeface="Aptos"/>
                <a:ea typeface="Aptos"/>
                <a:cs typeface="Aptos"/>
              </a:rPr>
              <a:t/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e31f81fb4408b"/>
          <a:stretch xmlns:a="http://schemas.openxmlformats.org/drawingml/2006/main"/>
        </p:blipFill>
        <p:spPr>
          <a:xfrm xmlns:a="http://schemas.openxmlformats.org/drawingml/2006/main">
            <a:off x="7743825" y="2238375"/>
            <a:ext cx="4019550" cy="2499646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4" name="Text 8">
            <a:extLst xmlns:a="http://schemas.openxmlformats.org/drawingml/2006/main">
              <a:ext uri="{FF2B5EF4-FFF2-40B4-BE49-F238E27FC236}">
                <a16:creationId xmlns:a16="http://schemas.microsoft.com/office/drawing/2014/main" id="{4D72CA37-4801-422E-9672-F7FAEDF0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500" b="0">
                <a:solidFill>
                  <a:srgbClr val="E0EFEC"/>
                </a:solidFill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rgbClr val="E0EFEC"/>
                </a:solidFill>
                <a:latin typeface="Arial"/>
                <a:ea typeface="Arial"/>
                <a:cs typeface="Arial"/>
              </a:rPr>
              <a:t>Fernando Restelli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500" b="0">
                <a:solidFill>
                  <a:srgbClr val="E0EFEC"/>
                </a:solidFill>
                <a:latin typeface="Arial"/>
                <a:ea typeface="Arial"/>
                <a:cs typeface="Arial"/>
              </a:defRPr>
            </a:pPr>
            <a:r>
              <a:rPr sz="1500" b="0" u="none">
                <a:solidFill>
                  <a:srgbClr val="E0EFEC"/>
                </a:solidFill>
                <a:latin typeface="Arial"/>
                <a:ea typeface="Arial"/>
                <a:cs typeface="Arial"/>
              </a:rPr>
              <a:t>Data Mining en Series Temporales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DDE235-5F59-41E2-A127-053EF1A2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572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C5E4D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5E4DE"/>
                </a:solidFill>
                <a:latin typeface="Arial"/>
                <a:ea typeface="Arial"/>
                <a:cs typeface="Arial"/>
              </a:rPr>
              <a:t>PROYECTO ACADÉMICO</a:t>
            </a:r>
          </a:p>
        </p:txBody>
      </p:sp>
    </p:spTree>
    <p:extLst>
      <p:ext uri="{BB962C8B-B14F-4D97-AF65-F5344CB8AC3E}">
        <p14:creationId xmlns:p14="http://schemas.microsoft.com/office/powerpoint/2010/main" val="1093480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 0">
            <a:extLst xmlns:a="http://schemas.openxmlformats.org/drawingml/2006/main">
              <a:ext uri="{FF2B5EF4-FFF2-40B4-BE49-F238E27FC236}">
                <a16:creationId xmlns:a16="http://schemas.microsoft.com/office/drawing/2014/main" id="{7B9ED065-4D54-4EA1-837E-BCF31659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31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150" b="1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Objetivo y alcance del análisis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 1">
            <a:extLst xmlns:a="http://schemas.openxmlformats.org/drawingml/2006/main">
              <a:ext uri="{FF2B5EF4-FFF2-40B4-BE49-F238E27FC236}">
                <a16:creationId xmlns:a16="http://schemas.microsoft.com/office/drawing/2014/main" id="{FA2BED3B-3767-43E1-BD1D-C2313E95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74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8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875" b="0" u="none">
                <a:solidFill>
                  <a:srgbClr val="50616B"/>
                </a:solidFill>
                <a:latin typeface="Arial"/>
                <a:ea typeface="Arial"/>
                <a:cs typeface="Arial"/>
              </a:rPr>
              <a:t>Analizar la demanda y su relación con las promociones y los descuentos.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hape 2">
            <a:extLst xmlns:a="http://schemas.openxmlformats.org/drawingml/2006/main">
              <a:ext uri="{FF2B5EF4-FFF2-40B4-BE49-F238E27FC236}">
                <a16:creationId xmlns:a16="http://schemas.microsoft.com/office/drawing/2014/main" id="{DD2EC2C7-A090-41FB-ABB7-EA9EDCD7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80" y="1143000"/>
            <a:ext cx="10881360" cy="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ext 3">
            <a:extLst xmlns:a="http://schemas.openxmlformats.org/drawingml/2006/main">
              <a:ext uri="{FF2B5EF4-FFF2-40B4-BE49-F238E27FC236}">
                <a16:creationId xmlns:a16="http://schemas.microsoft.com/office/drawing/2014/main" id="{29BCD7CA-BEB5-471B-9244-E75F4009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600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950" b="1">
                <a:solidFill>
                  <a:srgbClr val="086C6A"/>
                </a:solidFill>
                <a:latin typeface="Arial"/>
                <a:ea typeface="Arial"/>
                <a:cs typeface="Arial"/>
              </a:defRPr>
            </a:pPr>
            <a:r>
              <a:rPr sz="1950" b="1" u="none">
                <a:solidFill>
                  <a:srgbClr val="086C6A"/>
                </a:solidFill>
                <a:latin typeface="Arial"/>
                <a:ea typeface="Arial"/>
                <a:cs typeface="Arial"/>
              </a:rPr>
              <a:t>Niveles de análisis</a:t>
            </a:r>
            <a:endParaRPr sz="19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hape 4">
            <a:extLst xmlns:a="http://schemas.openxmlformats.org/drawingml/2006/main">
              <a:ext uri="{FF2B5EF4-FFF2-40B4-BE49-F238E27FC236}">
                <a16:creationId xmlns:a16="http://schemas.microsoft.com/office/drawing/2014/main" id="{7C58B7E3-EA73-45BD-85B3-0CDB3A0E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03120"/>
            <a:ext cx="475200" cy="475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ext 5">
            <a:extLst xmlns:a="http://schemas.openxmlformats.org/drawingml/2006/main">
              <a:ext uri="{FF2B5EF4-FFF2-40B4-BE49-F238E27FC236}">
                <a16:creationId xmlns:a16="http://schemas.microsoft.com/office/drawing/2014/main" id="{63C5BD93-249C-46D6-9D23-81A2E0E0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2100" b="1">
                <a:solidFill>
                  <a:srgbClr val="086C6A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086C6A"/>
                </a:solidFill>
                <a:latin typeface="Arial"/>
                <a:ea typeface="Arial"/>
                <a:cs typeface="Arial"/>
              </a:rPr>
              <a:t>01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 6">
            <a:extLst xmlns:a="http://schemas.openxmlformats.org/drawingml/2006/main">
              <a:ext uri="{FF2B5EF4-FFF2-40B4-BE49-F238E27FC236}">
                <a16:creationId xmlns:a16="http://schemas.microsoft.com/office/drawing/2014/main" id="{2DAC666B-D1D5-4D97-99B0-42BA5CF0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609850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875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 b="1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Ventas totales diarias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7">
            <a:extLst xmlns:a="http://schemas.openxmlformats.org/drawingml/2006/main">
              <a:ext uri="{FF2B5EF4-FFF2-40B4-BE49-F238E27FC236}">
                <a16:creationId xmlns:a16="http://schemas.microsoft.com/office/drawing/2014/main" id="{598D1489-F2EE-4BF5-A187-35CE17BB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96227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6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650" b="0" u="none">
                <a:solidFill>
                  <a:srgbClr val="50616B"/>
                </a:solidFill>
                <a:latin typeface="Arial"/>
                <a:ea typeface="Arial"/>
                <a:cs typeface="Arial"/>
              </a:rPr>
              <a:t>Comprender la evolución global de las ventas.</a:t>
            </a:r>
            <a:endParaRPr sz="96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Shape 8">
            <a:extLst xmlns:a="http://schemas.openxmlformats.org/drawingml/2006/main">
              <a:ext uri="{FF2B5EF4-FFF2-40B4-BE49-F238E27FC236}">
                <a16:creationId xmlns:a16="http://schemas.microsoft.com/office/drawing/2014/main" id="{17CEE6F1-8726-4808-817D-8E1B4797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273480"/>
            <a:ext cx="475200" cy="475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9">
            <a:extLst xmlns:a="http://schemas.openxmlformats.org/drawingml/2006/main">
              <a:ext uri="{FF2B5EF4-FFF2-40B4-BE49-F238E27FC236}">
                <a16:creationId xmlns:a16="http://schemas.microsoft.com/office/drawing/2014/main" id="{2645EF25-66B7-4F9E-84A0-89651025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2100" b="1">
                <a:solidFill>
                  <a:srgbClr val="086C6A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086C6A"/>
                </a:solidFill>
                <a:latin typeface="Arial"/>
                <a:ea typeface="Arial"/>
                <a:cs typeface="Arial"/>
              </a:rPr>
              <a:t>02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Text 10">
            <a:extLst xmlns:a="http://schemas.openxmlformats.org/drawingml/2006/main">
              <a:ext uri="{FF2B5EF4-FFF2-40B4-BE49-F238E27FC236}">
                <a16:creationId xmlns:a16="http://schemas.microsoft.com/office/drawing/2014/main" id="{21546CA2-3C25-4A7A-868E-ED10D87D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486150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875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 b="1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Categorías y marcas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 11">
            <a:extLst xmlns:a="http://schemas.openxmlformats.org/drawingml/2006/main">
              <a:ext uri="{FF2B5EF4-FFF2-40B4-BE49-F238E27FC236}">
                <a16:creationId xmlns:a16="http://schemas.microsoft.com/office/drawing/2014/main" id="{46D01833-A48F-4FEA-B9A2-C95F13F0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83857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6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650" b="0" u="none">
                <a:solidFill>
                  <a:srgbClr val="50616B"/>
                </a:solidFill>
                <a:latin typeface="Arial"/>
                <a:ea typeface="Arial"/>
                <a:cs typeface="Arial"/>
              </a:rPr>
              <a:t>Comparar ciclos y volatilidad entre familias.</a:t>
            </a:r>
            <a:endParaRPr sz="96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Shape 12">
            <a:extLst xmlns:a="http://schemas.openxmlformats.org/drawingml/2006/main">
              <a:ext uri="{FF2B5EF4-FFF2-40B4-BE49-F238E27FC236}">
                <a16:creationId xmlns:a16="http://schemas.microsoft.com/office/drawing/2014/main" id="{36C41DCC-B58B-43BD-9DB6-C2D63BD6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443840"/>
            <a:ext cx="475200" cy="475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Text 13">
            <a:extLst xmlns:a="http://schemas.openxmlformats.org/drawingml/2006/main">
              <a:ext uri="{FF2B5EF4-FFF2-40B4-BE49-F238E27FC236}">
                <a16:creationId xmlns:a16="http://schemas.microsoft.com/office/drawing/2014/main" id="{3EC283D6-3DBF-49E6-8E38-3A0B773C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2100" b="1">
                <a:solidFill>
                  <a:srgbClr val="086C6A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086C6A"/>
                </a:solidFill>
                <a:latin typeface="Arial"/>
                <a:ea typeface="Arial"/>
                <a:cs typeface="Arial"/>
              </a:rPr>
              <a:t>03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 14">
            <a:extLst xmlns:a="http://schemas.openxmlformats.org/drawingml/2006/main">
              <a:ext uri="{FF2B5EF4-FFF2-40B4-BE49-F238E27FC236}">
                <a16:creationId xmlns:a16="http://schemas.microsoft.com/office/drawing/2014/main" id="{2D0A2D06-31E1-487A-B865-CC51C6EB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362450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875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 b="1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Demanda por producto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Text 15">
            <a:extLst xmlns:a="http://schemas.openxmlformats.org/drawingml/2006/main">
              <a:ext uri="{FF2B5EF4-FFF2-40B4-BE49-F238E27FC236}">
                <a16:creationId xmlns:a16="http://schemas.microsoft.com/office/drawing/2014/main" id="{5F5FFCD7-91CE-42EE-AA43-9C1F16EF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71487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6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650" b="0" u="none">
                <a:solidFill>
                  <a:srgbClr val="50616B"/>
                </a:solidFill>
                <a:latin typeface="Arial"/>
                <a:ea typeface="Arial"/>
                <a:cs typeface="Arial"/>
              </a:rPr>
              <a:t>Analizar cada producto a partir de item_id.</a:t>
            </a:r>
            <a:endParaRPr sz="96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hape 16">
            <a:extLst xmlns:a="http://schemas.openxmlformats.org/drawingml/2006/main">
              <a:ext uri="{FF2B5EF4-FFF2-40B4-BE49-F238E27FC236}">
                <a16:creationId xmlns:a16="http://schemas.microsoft.com/office/drawing/2014/main" id="{40D1BE8C-D693-427D-9EEF-F1A1DD00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14560"/>
            <a:ext cx="475200" cy="475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ext 17">
            <a:extLst xmlns:a="http://schemas.openxmlformats.org/drawingml/2006/main">
              <a:ext uri="{FF2B5EF4-FFF2-40B4-BE49-F238E27FC236}">
                <a16:creationId xmlns:a16="http://schemas.microsoft.com/office/drawing/2014/main" id="{3445DB59-33B7-4EC5-B645-703D58C7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2100" b="1">
                <a:solidFill>
                  <a:srgbClr val="086C6A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086C6A"/>
                </a:solidFill>
                <a:latin typeface="Arial"/>
                <a:ea typeface="Arial"/>
                <a:cs typeface="Arial"/>
              </a:rPr>
              <a:t>04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Text 18">
            <a:extLst xmlns:a="http://schemas.openxmlformats.org/drawingml/2006/main">
              <a:ext uri="{FF2B5EF4-FFF2-40B4-BE49-F238E27FC236}">
                <a16:creationId xmlns:a16="http://schemas.microsoft.com/office/drawing/2014/main" id="{59AC27FE-FAF9-4D59-9D5D-64C17A34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238750"/>
            <a:ext cx="5429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875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875" b="1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Promociones y descuentos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 19">
            <a:extLst xmlns:a="http://schemas.openxmlformats.org/drawingml/2006/main">
              <a:ext uri="{FF2B5EF4-FFF2-40B4-BE49-F238E27FC236}">
                <a16:creationId xmlns:a16="http://schemas.microsoft.com/office/drawing/2014/main" id="{7F70A2FF-40EB-43E8-BFDC-877DB42E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559117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6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650" b="0" u="none">
                <a:solidFill>
                  <a:srgbClr val="50616B"/>
                </a:solidFill>
                <a:latin typeface="Arial"/>
                <a:ea typeface="Arial"/>
                <a:cs typeface="Arial"/>
              </a:rPr>
              <a:t>Evaluar su relación con la demanda.</a:t>
            </a:r>
            <a:endParaRPr sz="96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20">
            <a:extLst xmlns:a="http://schemas.openxmlformats.org/drawingml/2006/main">
              <a:ext uri="{FF2B5EF4-FFF2-40B4-BE49-F238E27FC236}">
                <a16:creationId xmlns:a16="http://schemas.microsoft.com/office/drawing/2014/main" id="{B814CEBD-D18B-47E8-AA8E-DFC1D497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572840"/>
            <a:ext cx="4525920" cy="4480200"/>
          </a:xfrm>
          <a:prstGeom xmlns:a="http://schemas.openxmlformats.org/drawingml/2006/main" prst="roundRect">
            <a:avLst>
              <a:gd name="adj" fmla="val 204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 21">
            <a:extLst xmlns:a="http://schemas.openxmlformats.org/drawingml/2006/main">
              <a:ext uri="{FF2B5EF4-FFF2-40B4-BE49-F238E27FC236}">
                <a16:creationId xmlns:a16="http://schemas.microsoft.com/office/drawing/2014/main" id="{2FDE5864-CC44-44E0-900B-6D14BD2F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097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950" b="1">
                <a:solidFill>
                  <a:srgbClr val="086C6A"/>
                </a:solidFill>
                <a:latin typeface="Arial"/>
                <a:ea typeface="Arial"/>
                <a:cs typeface="Arial"/>
              </a:defRPr>
            </a:pPr>
            <a:r>
              <a:rPr sz="1950" b="1" u="none">
                <a:solidFill>
                  <a:srgbClr val="086C6A"/>
                </a:solidFill>
                <a:latin typeface="Arial"/>
                <a:ea typeface="Arial"/>
                <a:cs typeface="Arial"/>
              </a:rPr>
              <a:t>Pregunta central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Text 22">
            <a:extLst xmlns:a="http://schemas.openxmlformats.org/drawingml/2006/main">
              <a:ext uri="{FF2B5EF4-FFF2-40B4-BE49-F238E27FC236}">
                <a16:creationId xmlns:a16="http://schemas.microsoft.com/office/drawing/2014/main" id="{19243F8A-18AE-45B2-AF29-097EE5B4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28900"/>
            <a:ext cx="3810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25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2550" b="1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¿Cómo evoluciona la demanda y en qué medida podemos anticiparla por producto considerando promociones y descuentos?</a:t>
            </a:r>
            <a:endParaRPr sz="2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Shape 23">
            <a:extLst xmlns:a="http://schemas.openxmlformats.org/drawingml/2006/main">
              <a:ext uri="{FF2B5EF4-FFF2-40B4-BE49-F238E27FC236}">
                <a16:creationId xmlns:a16="http://schemas.microsoft.com/office/drawing/2014/main" id="{8A0463F4-51E6-49F4-89DC-73575FD4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400" y="4160520"/>
            <a:ext cx="3383280" cy="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Text 25">
            <a:extLst xmlns:a="http://schemas.openxmlformats.org/drawingml/2006/main">
              <a:ext uri="{FF2B5EF4-FFF2-40B4-BE49-F238E27FC236}">
                <a16:creationId xmlns:a16="http://schemas.microsoft.com/office/drawing/2014/main" id="{745F4671-78F8-4332-9860-53289182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0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050" b="0" u="none">
                <a:solidFill>
                  <a:srgbClr val="50616B"/>
                </a:solidFill>
                <a:latin typeface="Arial"/>
                <a:ea typeface="Arial"/>
                <a:cs typeface="Arial"/>
              </a:rPr>
              <a:t>Series temporales en retail / AmExpert 2019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9E9A466-9F45-444E-882B-EA5DB8358BDE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11315700" y="64579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rgbClr val="81919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 defTabSz="914400">
              <a:lnSpc>
                <a:spcPct val="112000"/>
              </a:lnSpc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fld id="{E2598689-54C9-18A7-3A19-ED76AA08988F}" type="slidenum">
              <a:rPr sz="1200" b="0" u="none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239200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ext 0">
            <a:extLst xmlns:a="http://schemas.openxmlformats.org/drawingml/2006/main">
              <a:ext uri="{FF2B5EF4-FFF2-40B4-BE49-F238E27FC236}">
                <a16:creationId xmlns:a16="http://schemas.microsoft.com/office/drawing/2014/main" id="{C9456B4D-F45C-4A3F-9989-5E953336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3150" b="1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3150" b="1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Datos del proyecto: AmExpert 2019</a:t>
            </a:r>
            <a:endParaRPr sz="2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Text 1">
            <a:extLst xmlns:a="http://schemas.openxmlformats.org/drawingml/2006/main">
              <a:ext uri="{FF2B5EF4-FFF2-40B4-BE49-F238E27FC236}">
                <a16:creationId xmlns:a16="http://schemas.microsoft.com/office/drawing/2014/main" id="{67B6C7E7-0A5B-4E9A-A815-F1A72110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74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8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875" b="0" u="none">
                <a:solidFill>
                  <a:srgbClr val="50616B"/>
                </a:solidFill>
                <a:latin typeface="Arial"/>
                <a:ea typeface="Arial"/>
                <a:cs typeface="Arial"/>
              </a:rPr>
              <a:t>Transacciones y productos para estudiar la demanda en su contexto comercial.</a:t>
            </a:r>
            <a:endParaRPr sz="11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hape 2">
            <a:extLst xmlns:a="http://schemas.openxmlformats.org/drawingml/2006/main">
              <a:ext uri="{FF2B5EF4-FFF2-40B4-BE49-F238E27FC236}">
                <a16:creationId xmlns:a16="http://schemas.microsoft.com/office/drawing/2014/main" id="{1B2B558F-5795-47F6-BBD7-C25FAB66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80" y="1143000"/>
            <a:ext cx="10881360" cy="3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-44640" rIns="90000" bIns="-4464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hape 3">
            <a:extLst xmlns:a="http://schemas.openxmlformats.org/drawingml/2006/main">
              <a:ext uri="{FF2B5EF4-FFF2-40B4-BE49-F238E27FC236}">
                <a16:creationId xmlns:a16="http://schemas.microsoft.com/office/drawing/2014/main" id="{09C25C00-A05A-41CF-A1A1-CEA14221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60" y="1481400"/>
            <a:ext cx="3382920" cy="1965600"/>
          </a:xfrm>
          <a:prstGeom xmlns:a="http://schemas.openxmlformats.org/drawingml/2006/main" prst="roundRect">
            <a:avLst>
              <a:gd name="adj" fmla="val 372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hape 4">
            <a:extLst xmlns:a="http://schemas.openxmlformats.org/drawingml/2006/main">
              <a:ext uri="{FF2B5EF4-FFF2-40B4-BE49-F238E27FC236}">
                <a16:creationId xmlns:a16="http://schemas.microsoft.com/office/drawing/2014/main" id="{0EDB9761-1789-4CB9-89B6-035E0B202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60" y="1481400"/>
            <a:ext cx="72720" cy="196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Text 5">
            <a:extLst xmlns:a="http://schemas.openxmlformats.org/drawingml/2006/main">
              <a:ext uri="{FF2B5EF4-FFF2-40B4-BE49-F238E27FC236}">
                <a16:creationId xmlns:a16="http://schemas.microsoft.com/office/drawing/2014/main" id="{B7A129C1-BD4B-4920-9D62-1AB9FEC0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2100" b="1">
                <a:solidFill>
                  <a:srgbClr val="086C6A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086C6A"/>
                </a:solidFill>
                <a:latin typeface="Arial"/>
                <a:ea typeface="Arial"/>
                <a:cs typeface="Arial"/>
              </a:rPr>
              <a:t>Transacciones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Text 6">
            <a:extLst xmlns:a="http://schemas.openxmlformats.org/drawingml/2006/main">
              <a:ext uri="{FF2B5EF4-FFF2-40B4-BE49-F238E27FC236}">
                <a16:creationId xmlns:a16="http://schemas.microsoft.com/office/drawing/2014/main" id="{A3A8BF85-C292-438B-8DCF-DF209B7D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3381375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725" b="0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customer_transaction_data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66727C"/>
                </a:solidFill>
                <a:latin typeface="Aptos"/>
                <a:ea typeface="Aptos"/>
                <a:cs typeface="Aptos"/>
              </a:rPr>
              <a:t/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725" b="0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date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725" b="0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customer_id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725" b="0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item_id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725" b="0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quantity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725" b="0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selling_price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725" b="0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coupon_discount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725" b="0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other_discount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hape 7">
            <a:extLst xmlns:a="http://schemas.openxmlformats.org/drawingml/2006/main">
              <a:ext uri="{FF2B5EF4-FFF2-40B4-BE49-F238E27FC236}">
                <a16:creationId xmlns:a16="http://schemas.microsoft.com/office/drawing/2014/main" id="{95924E41-E12A-49DB-8B4E-4D83D3B9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840" y="1481400"/>
            <a:ext cx="3401280" cy="1965600"/>
          </a:xfrm>
          <a:prstGeom xmlns:a="http://schemas.openxmlformats.org/drawingml/2006/main" prst="roundRect">
            <a:avLst>
              <a:gd name="adj" fmla="val 372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Shape 8">
            <a:extLst xmlns:a="http://schemas.openxmlformats.org/drawingml/2006/main">
              <a:ext uri="{FF2B5EF4-FFF2-40B4-BE49-F238E27FC236}">
                <a16:creationId xmlns:a16="http://schemas.microsoft.com/office/drawing/2014/main" id="{41C2D525-2632-4F98-B578-FC381123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840" y="1481400"/>
            <a:ext cx="72720" cy="196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Text 9">
            <a:extLst xmlns:a="http://schemas.openxmlformats.org/drawingml/2006/main">
              <a:ext uri="{FF2B5EF4-FFF2-40B4-BE49-F238E27FC236}">
                <a16:creationId xmlns:a16="http://schemas.microsoft.com/office/drawing/2014/main" id="{6B48551C-D62D-4B02-AB0D-1707649C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955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2100" b="1">
                <a:solidFill>
                  <a:srgbClr val="086C6A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086C6A"/>
                </a:solidFill>
                <a:latin typeface="Arial"/>
                <a:ea typeface="Arial"/>
                <a:cs typeface="Arial"/>
              </a:rPr>
              <a:t>Catálogo de productos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Text 10">
            <a:extLst xmlns:a="http://schemas.openxmlformats.org/drawingml/2006/main">
              <a:ext uri="{FF2B5EF4-FFF2-40B4-BE49-F238E27FC236}">
                <a16:creationId xmlns:a16="http://schemas.microsoft.com/office/drawing/2014/main" id="{F6E5336B-F484-43B4-987C-711C0D9C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28900"/>
            <a:ext cx="33813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725" b="0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item_data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050" b="0" u="none">
                <a:solidFill>
                  <a:srgbClr val="66727C"/>
                </a:solidFill>
                <a:latin typeface="Aptos"/>
                <a:ea typeface="Aptos"/>
                <a:cs typeface="Aptos"/>
              </a:rPr>
              <a:t/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725" b="0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item_id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725" b="0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brand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725" b="0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brand_type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category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hape 11">
            <a:extLst xmlns:a="http://schemas.openxmlformats.org/drawingml/2006/main">
              <a:ext uri="{FF2B5EF4-FFF2-40B4-BE49-F238E27FC236}">
                <a16:creationId xmlns:a16="http://schemas.microsoft.com/office/drawing/2014/main" id="{F0A92AF8-2151-41FF-AF2A-363A15D9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81400"/>
            <a:ext cx="3401280" cy="1965600"/>
          </a:xfrm>
          <a:prstGeom xmlns:a="http://schemas.openxmlformats.org/drawingml/2006/main" prst="roundRect">
            <a:avLst>
              <a:gd name="adj" fmla="val 372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Shape 12">
            <a:extLst xmlns:a="http://schemas.openxmlformats.org/drawingml/2006/main">
              <a:ext uri="{FF2B5EF4-FFF2-40B4-BE49-F238E27FC236}">
                <a16:creationId xmlns:a16="http://schemas.microsoft.com/office/drawing/2014/main" id="{32F10B59-23E4-44F6-B251-6F1B12C7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81400"/>
            <a:ext cx="72720" cy="196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Text 13">
            <a:extLst xmlns:a="http://schemas.openxmlformats.org/drawingml/2006/main">
              <a:ext uri="{FF2B5EF4-FFF2-40B4-BE49-F238E27FC236}">
                <a16:creationId xmlns:a16="http://schemas.microsoft.com/office/drawing/2014/main" id="{0D7B19A3-3EE8-4C4D-92D6-D8E063D8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9550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2100" b="1">
                <a:solidFill>
                  <a:srgbClr val="086C6A"/>
                </a:solidFill>
                <a:latin typeface="Arial"/>
                <a:ea typeface="Arial"/>
                <a:cs typeface="Arial"/>
              </a:defRPr>
            </a:pPr>
            <a:r>
              <a:rPr sz="2100" b="1" u="none">
                <a:solidFill>
                  <a:srgbClr val="086C6A"/>
                </a:solidFill>
                <a:latin typeface="Arial"/>
                <a:ea typeface="Arial"/>
                <a:cs typeface="Arial"/>
              </a:rPr>
              <a:t>Contexto comercial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ext 14">
            <a:extLst xmlns:a="http://schemas.openxmlformats.org/drawingml/2006/main">
              <a:ext uri="{FF2B5EF4-FFF2-40B4-BE49-F238E27FC236}">
                <a16:creationId xmlns:a16="http://schemas.microsoft.com/office/drawing/2014/main" id="{6B266C82-5D0F-45E0-878F-2AD3F85C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28900"/>
            <a:ext cx="3190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725" b="0" u="none">
                <a:solidFill>
                  <a:srgbClr val="172F3B"/>
                </a:solidFill>
                <a:latin typeface="Arial"/>
                <a:ea typeface="Arial"/>
                <a:cs typeface="Arial"/>
              </a:rPr>
              <a:t>campaign_data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coupon_item_mapping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172F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F3B"/>
                </a:solidFill>
                <a:latin typeface="Arial"/>
                <a:ea typeface="Arial"/>
                <a:cs typeface="Arial"/>
              </a:rPr>
              <a:t>redemption</a:t>
            </a:r>
            <a:endParaRPr sz="10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Text 21">
            <a:extLst xmlns:a="http://schemas.openxmlformats.org/drawingml/2006/main">
              <a:ext uri="{FF2B5EF4-FFF2-40B4-BE49-F238E27FC236}">
                <a16:creationId xmlns:a16="http://schemas.microsoft.com/office/drawing/2014/main" id="{463962F3-2336-4C98-9BD1-60863BDF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05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050" b="0" u="none">
                <a:solidFill>
                  <a:srgbClr val="50616B"/>
                </a:solidFill>
                <a:latin typeface="Arial"/>
                <a:ea typeface="Arial"/>
                <a:cs typeface="Arial"/>
              </a:rPr>
              <a:t>Series temporales en retail / AmExpert 2019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3290080-88F0-4DB8-8EEE-91EB10B9597E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>
          <a:xfrm xmlns:a="http://schemas.openxmlformats.org/drawingml/2006/main">
            <a:off x="11315700" y="6457950"/>
            <a:ext cx="28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indent="0" algn="l" defTabSz="914400">
              <a:lnSpc>
                <a:spcPct val="100000"/>
              </a:lnSpc>
              <a:buNone/>
              <a:defRPr sz="1200" b="0" u="none">
                <a:solidFill>
                  <a:srgbClr val="81919A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indent="0" algn="l" defTabSz="914400">
              <a:lnSpc>
                <a:spcPct val="112000"/>
              </a:lnSpc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fld id="{202359C0-8A7A-196E-DD58-8E6569619F09}" type="slidenum">
              <a:rPr sz="1200" b="0" u="none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fld>
            <a:endParaRPr sz="1200" b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8" name="Text 4">
            <a:extLst xmlns:a="http://schemas.openxmlformats.org/drawingml/2006/main">
              <a:ext uri="{FF2B5EF4-FFF2-40B4-BE49-F238E27FC236}">
                <a16:creationId xmlns:a16="http://schemas.microsoft.com/office/drawing/2014/main" id="{5830CA1C-085D-47BA-829E-9D6FD727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24350"/>
            <a:ext cx="319087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12000"/>
              </a:lnSpc>
              <a:buNone/>
              <a:tabLst>
                <a:tab pos="0" algn="l"/>
              </a:tabLst>
              <a:defRPr sz="172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725" b="0" u="none">
                <a:solidFill>
                  <a:srgbClr val="50616B"/>
                </a:solidFill>
                <a:latin typeface="Arial"/>
                <a:ea typeface="Arial"/>
                <a:cs typeface="Arial"/>
              </a:rPr>
              <a:t>Campañas y cupones para estudiar la relación entre promociones y demanda.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9C5D07C-77BB-4DBF-8C34-A1C9B113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53025"/>
            <a:ext cx="314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Permite analizar las ventas por categoría, marca y producto.</a:t>
            </a:r>
          </a:p>
        </p:txBody>
      </p:sp>
    </p:spTree>
    <p:extLst>
      <p:ext uri="{BB962C8B-B14F-4D97-AF65-F5344CB8AC3E}">
        <p14:creationId xmlns:p14="http://schemas.microsoft.com/office/powerpoint/2010/main" val="196169626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2026-10-05T22:44:25.4540000Z</dcterms:created>
  <dcterms:modified xsi:type="dcterms:W3CDTF">2026-10-05T22:44:25.4540000Z</dcterms:modified>
</coreProperties>
</file>